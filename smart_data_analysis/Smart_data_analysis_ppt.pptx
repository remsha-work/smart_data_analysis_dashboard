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Clear Sans" panose="020B0503030202020304"/>
      <p:regular r:id="rId18"/>
    </p:embeddedFont>
    <p:embeddedFont>
      <p:font typeface="Sansation Bold" panose="02000000000000000000"/>
      <p:bold r:id="rId19"/>
    </p:embeddedFont>
    <p:embeddedFont>
      <p:font typeface="Clear Sans Bold" panose="020B0803030202020304"/>
      <p:bold r:id="rId20"/>
    </p:embeddedFont>
    <p:embeddedFont>
      <p:font typeface="Sansation" panose="02000000000000000000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013428" y="6882953"/>
            <a:ext cx="8261144" cy="2375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</a:pPr>
            <a:r>
              <a:rPr lang="en-US" sz="3155" spc="94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By </a:t>
            </a:r>
            <a:endParaRPr lang="en-US" sz="3155" spc="94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algn="ctr">
              <a:lnSpc>
                <a:spcPts val="4730"/>
              </a:lnSpc>
            </a:pPr>
            <a:r>
              <a:rPr lang="en-US" sz="3155" spc="94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Samina Ujjainwala </a:t>
            </a:r>
            <a:endParaRPr lang="en-US" sz="3155" spc="94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algn="ctr">
              <a:lnSpc>
                <a:spcPts val="4730"/>
              </a:lnSpc>
            </a:pPr>
            <a:r>
              <a:rPr lang="en-US" sz="3155" spc="94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&amp; </a:t>
            </a:r>
            <a:endParaRPr lang="en-US" sz="3155" spc="94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0" lvl="0" indent="0" algn="ctr">
              <a:lnSpc>
                <a:spcPts val="4730"/>
              </a:lnSpc>
              <a:spcBef>
                <a:spcPct val="0"/>
              </a:spcBef>
            </a:pPr>
            <a:r>
              <a:rPr lang="en-US" sz="3155" spc="94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Remsha Mohammed Salim Ansari </a:t>
            </a:r>
            <a:endParaRPr lang="en-US" sz="3155" spc="94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-238521" y="2601411"/>
            <a:ext cx="18765042" cy="2989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750"/>
              </a:lnSpc>
              <a:spcBef>
                <a:spcPct val="0"/>
              </a:spcBef>
            </a:pPr>
            <a:r>
              <a:rPr lang="en-US" sz="9790" b="1" spc="293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SMART DATA ANALYSIS DASHBOARD </a:t>
            </a:r>
            <a:endParaRPr lang="en-US" sz="9790" b="1" spc="293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87303" y="4104443"/>
            <a:ext cx="14423430" cy="3350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7715" lvl="1" indent="-383540" algn="just">
              <a:lnSpc>
                <a:spcPts val="5330"/>
              </a:lnSpc>
              <a:buFont typeface="Arial" panose="020B0604020202020204"/>
              <a:buChar char="•"/>
            </a:pPr>
            <a:r>
              <a:rPr lang="en-US" sz="3555" spc="106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Provide a unified platform for analyzing data from multiple sources</a:t>
            </a:r>
            <a:endParaRPr lang="en-US" sz="3555" spc="106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67715" lvl="1" indent="-383540" algn="just">
              <a:lnSpc>
                <a:spcPts val="5330"/>
              </a:lnSpc>
              <a:buFont typeface="Arial" panose="020B0604020202020204"/>
              <a:buChar char="•"/>
            </a:pPr>
            <a:r>
              <a:rPr lang="en-US" sz="3555" spc="106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Generate actionable insights quickly and efficiently</a:t>
            </a:r>
            <a:endParaRPr lang="en-US" sz="3555" spc="106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67715" lvl="1" indent="-383540" algn="just">
              <a:lnSpc>
                <a:spcPts val="5330"/>
              </a:lnSpc>
              <a:buFont typeface="Arial" panose="020B0604020202020204"/>
              <a:buChar char="•"/>
            </a:pPr>
            <a:r>
              <a:rPr lang="en-US" sz="3555" spc="106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Enable interactive visualizations for better decision-making</a:t>
            </a:r>
            <a:endParaRPr lang="en-US" sz="3555" spc="106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0" lvl="0" indent="0" algn="just">
              <a:lnSpc>
                <a:spcPts val="5330"/>
              </a:lnSpc>
              <a:spcBef>
                <a:spcPct val="0"/>
              </a:spcBef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3299372" y="2275922"/>
            <a:ext cx="11689257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50"/>
              </a:lnSpc>
              <a:spcBef>
                <a:spcPct val="0"/>
              </a:spcBef>
            </a:pPr>
            <a:r>
              <a:rPr lang="en-US" sz="10455" b="1" spc="104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INTRODUCTION</a:t>
            </a:r>
            <a:endParaRPr lang="en-US" sz="10455" b="1" spc="104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02223" y="4071789"/>
            <a:ext cx="12323289" cy="5186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9775" lvl="1" indent="-369570" algn="l">
              <a:lnSpc>
                <a:spcPts val="5135"/>
              </a:lnSpc>
              <a:buFont typeface="Arial" panose="020B0604020202020204"/>
              <a:buChar char="•"/>
            </a:pPr>
            <a:r>
              <a:rPr lang="en-US" sz="3425" spc="102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Traditional tools like Excel and Power BI have limitations:</a:t>
            </a:r>
            <a:endParaRPr lang="en-US" sz="3425" spc="102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1478915" lvl="2" indent="-492760" algn="l">
              <a:lnSpc>
                <a:spcPts val="5135"/>
              </a:lnSpc>
              <a:buFont typeface="Arial" panose="020B0604020202020204"/>
              <a:buChar char="⚬"/>
            </a:pPr>
            <a:r>
              <a:rPr lang="en-US" sz="3425" spc="102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Manual analysis is time-consuming.</a:t>
            </a:r>
            <a:endParaRPr lang="en-US" sz="3425" spc="102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1478915" lvl="2" indent="-492760" algn="l">
              <a:lnSpc>
                <a:spcPts val="5135"/>
              </a:lnSpc>
              <a:buFont typeface="Arial" panose="020B0604020202020204"/>
              <a:buChar char="⚬"/>
            </a:pPr>
            <a:r>
              <a:rPr lang="en-US" sz="3425" spc="102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Handling multiple file types is difficult.</a:t>
            </a:r>
            <a:endParaRPr lang="en-US" sz="3425" spc="102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1478915" lvl="2" indent="-492760" algn="l">
              <a:lnSpc>
                <a:spcPts val="5135"/>
              </a:lnSpc>
              <a:buFont typeface="Arial" panose="020B0604020202020204"/>
              <a:buChar char="⚬"/>
            </a:pPr>
            <a:r>
              <a:rPr lang="en-US" sz="3425" spc="102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Lack of a single platform for interactive insights.</a:t>
            </a:r>
            <a:endParaRPr lang="en-US" sz="3425" spc="102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39775" lvl="1" indent="-369570" algn="l">
              <a:lnSpc>
                <a:spcPts val="513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425" spc="102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Our dashboard addresses these challenges in one place.</a:t>
            </a:r>
            <a:endParaRPr lang="en-US" sz="3425" spc="102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0" lvl="0" indent="0" algn="l">
              <a:lnSpc>
                <a:spcPts val="5135"/>
              </a:lnSpc>
              <a:spcBef>
                <a:spcPct val="0"/>
              </a:spcBef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-1819818" y="2610936"/>
            <a:ext cx="2192763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25"/>
              </a:lnSpc>
              <a:spcBef>
                <a:spcPct val="0"/>
              </a:spcBef>
            </a:pPr>
            <a:r>
              <a:rPr lang="en-US" sz="7020" b="1" spc="70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MOTIVATION / WHY THIS PROJECT</a:t>
            </a:r>
            <a:endParaRPr lang="en-US" sz="7020" b="1" spc="70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221657" y="1019555"/>
            <a:ext cx="7844685" cy="107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20"/>
              </a:lnSpc>
              <a:spcBef>
                <a:spcPct val="0"/>
              </a:spcBef>
            </a:pPr>
            <a:r>
              <a:rPr lang="en-US" sz="7020" b="1" spc="70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OUR SOLUTION: </a:t>
            </a:r>
            <a:endParaRPr lang="en-US" sz="7020" b="1" spc="70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118477" y="4085517"/>
            <a:ext cx="14051046" cy="356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7880" lvl="1" indent="-408940" algn="l">
              <a:lnSpc>
                <a:spcPts val="5680"/>
              </a:lnSpc>
              <a:buFont typeface="Arial" panose="020B0604020202020204"/>
              <a:buChar char="•"/>
            </a:pPr>
            <a:r>
              <a:rPr lang="en-US" sz="3790" spc="113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Accepts multiple file formats: CSV, Excel, SQL, PDF, etc.</a:t>
            </a:r>
            <a:endParaRPr lang="en-US" sz="3790" spc="113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817880" lvl="1" indent="-408940" algn="l">
              <a:lnSpc>
                <a:spcPts val="5680"/>
              </a:lnSpc>
              <a:buFont typeface="Arial" panose="020B0604020202020204"/>
              <a:buChar char="•"/>
            </a:pPr>
            <a:r>
              <a:rPr lang="en-US" sz="3790" spc="113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Provides interactive, real-time data visualizations.</a:t>
            </a:r>
            <a:endParaRPr lang="en-US" sz="3790" spc="113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817880" lvl="1" indent="-408940" algn="l">
              <a:lnSpc>
                <a:spcPts val="5680"/>
              </a:lnSpc>
              <a:buFont typeface="Arial" panose="020B0604020202020204"/>
              <a:buChar char="•"/>
            </a:pPr>
            <a:r>
              <a:rPr lang="en-US" sz="3790" spc="113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Simplifies data preprocessing and cleaning.</a:t>
            </a:r>
            <a:endParaRPr lang="en-US" sz="3790" spc="113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817880" lvl="1" indent="-408940" algn="l">
              <a:lnSpc>
                <a:spcPts val="568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790" spc="113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Generates summary insights for quick decision-making.</a:t>
            </a:r>
            <a:endParaRPr lang="en-US" sz="3790" spc="113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0" lvl="0" indent="0" algn="l">
              <a:lnSpc>
                <a:spcPts val="5680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1726266" y="2620461"/>
            <a:ext cx="1483546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95"/>
              </a:lnSpc>
              <a:spcBef>
                <a:spcPct val="0"/>
              </a:spcBef>
            </a:pPr>
            <a:r>
              <a:rPr lang="en-US" sz="5660" b="1" spc="56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 SMART DATA ANALYSIS DASHBOARD</a:t>
            </a:r>
            <a:endParaRPr lang="en-US" sz="5660" b="1" spc="56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99372" y="2133866"/>
            <a:ext cx="11689257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25"/>
              </a:lnSpc>
              <a:spcBef>
                <a:spcPct val="0"/>
              </a:spcBef>
            </a:pPr>
            <a:r>
              <a:rPr lang="en-US" sz="7020" b="1" spc="70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KEY FEATURES</a:t>
            </a:r>
            <a:endParaRPr lang="en-US" sz="7020" b="1" spc="70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326424" y="4025415"/>
            <a:ext cx="13635152" cy="3532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8515" lvl="1" indent="-408940" algn="l">
              <a:lnSpc>
                <a:spcPts val="5685"/>
              </a:lnSpc>
              <a:buFont typeface="Arial" panose="020B0604020202020204"/>
              <a:buChar char="•"/>
            </a:pPr>
            <a:r>
              <a:rPr lang="en-US" sz="3790" spc="113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Multi-file compatibility for diverse data sources.</a:t>
            </a:r>
            <a:endParaRPr lang="en-US" sz="3790" spc="113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818515" lvl="1" indent="-408940" algn="l">
              <a:lnSpc>
                <a:spcPts val="5685"/>
              </a:lnSpc>
              <a:buFont typeface="Arial" panose="020B0604020202020204"/>
              <a:buChar char="•"/>
            </a:pPr>
            <a:r>
              <a:rPr lang="en-US" sz="3790" spc="113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Data preprocessing and cleaning automation.</a:t>
            </a:r>
            <a:endParaRPr lang="en-US" sz="3790" spc="113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818515" lvl="1" indent="-408940" algn="l">
              <a:lnSpc>
                <a:spcPts val="5685"/>
              </a:lnSpc>
              <a:buFont typeface="Arial" panose="020B0604020202020204"/>
              <a:buChar char="•"/>
            </a:pPr>
            <a:r>
              <a:rPr lang="en-US" sz="3790" spc="113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Interactive graphs and customizable charts.</a:t>
            </a:r>
            <a:endParaRPr lang="en-US" sz="3790" spc="113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818515" lvl="1" indent="-408940" algn="l">
              <a:lnSpc>
                <a:spcPts val="568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790" spc="113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Summary statistics and easy export options.</a:t>
            </a:r>
            <a:endParaRPr lang="en-US" sz="3790" spc="113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0" lvl="0" indent="0" algn="l">
              <a:lnSpc>
                <a:spcPts val="5685"/>
              </a:lnSpc>
              <a:spcBef>
                <a:spcPct val="0"/>
              </a:spcBef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393758" y="1417964"/>
            <a:ext cx="1907551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25"/>
              </a:lnSpc>
              <a:spcBef>
                <a:spcPct val="0"/>
              </a:spcBef>
            </a:pPr>
            <a:r>
              <a:rPr lang="en-US" sz="7020" b="1" spc="70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TECHNOLOGY / TOOLS USED</a:t>
            </a:r>
            <a:endParaRPr lang="en-US" sz="7020" b="1" spc="70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755743" y="4010811"/>
            <a:ext cx="0" cy="4103369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844829" y="2811408"/>
            <a:ext cx="4300209" cy="674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80"/>
              </a:lnSpc>
              <a:spcBef>
                <a:spcPct val="0"/>
              </a:spcBef>
            </a:pPr>
            <a:r>
              <a:rPr lang="en-US" sz="3790" b="1" spc="113">
                <a:solidFill>
                  <a:srgbClr val="3F3E3A"/>
                </a:solidFill>
                <a:latin typeface="Clear Sans Bold" panose="020B0803030202020304"/>
                <a:ea typeface="Clear Sans Bold" panose="020B0803030202020304"/>
                <a:cs typeface="Clear Sans Bold" panose="020B0803030202020304"/>
                <a:sym typeface="Clear Sans Bold" panose="020B0803030202020304"/>
              </a:rPr>
              <a:t>Tool / Technology</a:t>
            </a:r>
            <a:endParaRPr lang="en-US" sz="3790" b="1" spc="113">
              <a:solidFill>
                <a:srgbClr val="3F3E3A"/>
              </a:solidFill>
              <a:latin typeface="Clear Sans Bold" panose="020B0803030202020304"/>
              <a:ea typeface="Clear Sans Bold" panose="020B0803030202020304"/>
              <a:cs typeface="Clear Sans Bold" panose="020B0803030202020304"/>
              <a:sym typeface="Clear Sans Bold" panose="020B08030302020203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05683" y="2811408"/>
            <a:ext cx="1984385" cy="674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80"/>
              </a:lnSpc>
              <a:spcBef>
                <a:spcPct val="0"/>
              </a:spcBef>
            </a:pPr>
            <a:r>
              <a:rPr lang="en-US" sz="3790" b="1" spc="113">
                <a:solidFill>
                  <a:srgbClr val="3F3E3A"/>
                </a:solidFill>
                <a:latin typeface="Clear Sans Bold" panose="020B0803030202020304"/>
                <a:ea typeface="Clear Sans Bold" panose="020B0803030202020304"/>
                <a:cs typeface="Clear Sans Bold" panose="020B0803030202020304"/>
                <a:sym typeface="Clear Sans Bold" panose="020B0803030202020304"/>
              </a:rPr>
              <a:t>Purpose</a:t>
            </a:r>
            <a:endParaRPr lang="en-US" sz="3790" b="1" spc="113">
              <a:solidFill>
                <a:srgbClr val="3F3E3A"/>
              </a:solidFill>
              <a:latin typeface="Clear Sans Bold" panose="020B0803030202020304"/>
              <a:ea typeface="Clear Sans Bold" panose="020B0803030202020304"/>
              <a:cs typeface="Clear Sans Bold" panose="020B0803030202020304"/>
              <a:sym typeface="Clear Sans Bold" panose="020B08030302020203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4139626"/>
            <a:ext cx="7908018" cy="334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4700" lvl="1" indent="-387350" algn="l">
              <a:lnSpc>
                <a:spcPts val="5380"/>
              </a:lnSpc>
              <a:buAutoNum type="arabicPeriod"/>
            </a:pPr>
            <a:r>
              <a:rPr lang="en-US" sz="3590" spc="107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Python (pandas, numpy)</a:t>
            </a:r>
            <a:endParaRPr lang="en-US" sz="3590" spc="107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74700" lvl="1" indent="-387350" algn="l">
              <a:lnSpc>
                <a:spcPts val="5380"/>
              </a:lnSpc>
              <a:buAutoNum type="arabicPeriod"/>
            </a:pPr>
            <a:r>
              <a:rPr lang="en-US" sz="3590" spc="107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Matplotlib &amp; Seaborn</a:t>
            </a:r>
            <a:endParaRPr lang="en-US" sz="3590" spc="107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74700" lvl="1" indent="-387350" algn="l">
              <a:lnSpc>
                <a:spcPts val="5380"/>
              </a:lnSpc>
              <a:buAutoNum type="arabicPeriod"/>
            </a:pPr>
            <a:r>
              <a:rPr lang="en-US" sz="3590" spc="107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Plotly</a:t>
            </a:r>
            <a:endParaRPr lang="en-US" sz="3590" spc="107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74700" lvl="1" indent="-387350" algn="l">
              <a:lnSpc>
                <a:spcPts val="5380"/>
              </a:lnSpc>
              <a:buAutoNum type="arabicPeriod"/>
            </a:pPr>
            <a:r>
              <a:rPr lang="en-US" sz="3590" spc="107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Streamlit</a:t>
            </a:r>
            <a:endParaRPr lang="en-US" sz="3590" spc="107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74700" lvl="1" indent="-387350" algn="l">
              <a:lnSpc>
                <a:spcPts val="5380"/>
              </a:lnSpc>
              <a:buAutoNum type="arabicPeriod"/>
            </a:pPr>
            <a:r>
              <a:rPr lang="en-US" sz="3590" spc="107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SQL connector &amp; PDF parser</a:t>
            </a:r>
            <a:endParaRPr lang="en-US" sz="3590" spc="107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002033" y="4353098"/>
            <a:ext cx="9015029" cy="3135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7075" lvl="1" indent="-363220" algn="l">
              <a:lnSpc>
                <a:spcPts val="5050"/>
              </a:lnSpc>
              <a:buAutoNum type="arabicPeriod"/>
            </a:pPr>
            <a:r>
              <a:rPr lang="en-US" sz="3365" spc="100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Data processing and analysis</a:t>
            </a:r>
            <a:endParaRPr lang="en-US" sz="3365" spc="100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27075" lvl="1" indent="-363220" algn="l">
              <a:lnSpc>
                <a:spcPts val="5050"/>
              </a:lnSpc>
              <a:buAutoNum type="arabicPeriod"/>
            </a:pPr>
            <a:r>
              <a:rPr lang="en-US" sz="3365" spc="100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Static visualizations</a:t>
            </a:r>
            <a:endParaRPr lang="en-US" sz="3365" spc="100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27075" lvl="1" indent="-363220" algn="l">
              <a:lnSpc>
                <a:spcPts val="5050"/>
              </a:lnSpc>
              <a:buAutoNum type="arabicPeriod"/>
            </a:pPr>
            <a:r>
              <a:rPr lang="en-US" sz="3365" spc="100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Interactive visualizations</a:t>
            </a:r>
            <a:endParaRPr lang="en-US" sz="3365" spc="100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27075" lvl="1" indent="-363220" algn="l">
              <a:lnSpc>
                <a:spcPts val="5050"/>
              </a:lnSpc>
              <a:buAutoNum type="arabicPeriod"/>
            </a:pPr>
            <a:r>
              <a:rPr lang="en-US" sz="3365" spc="100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Dashboard deployment and interactivity</a:t>
            </a:r>
            <a:endParaRPr lang="en-US" sz="3365" spc="100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27075" lvl="1" indent="-363220" algn="l">
              <a:lnSpc>
                <a:spcPts val="5050"/>
              </a:lnSpc>
              <a:buAutoNum type="arabicPeriod"/>
            </a:pPr>
            <a:r>
              <a:rPr lang="en-US" sz="3365" spc="100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Handling databases and document data</a:t>
            </a:r>
            <a:endParaRPr lang="en-US" sz="3365" spc="100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95565" y="3332284"/>
            <a:ext cx="16511558" cy="470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5335" lvl="1" indent="-38735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590" spc="107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Secure access &amp; role-based flow</a:t>
            </a:r>
            <a:endParaRPr lang="en-US" sz="3590" spc="107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75335" lvl="1" indent="-38735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590" spc="107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Seamless ingestion &amp; normalization: uploads (CSV/XLSX/JSON/TXT/SQLite/PDF) or MySQL  ready for analysis.</a:t>
            </a:r>
            <a:endParaRPr lang="en-US" sz="3590" spc="107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75335" lvl="1" indent="-38735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590" spc="107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Reliable cleaning with versioning: live preview and inline edits cleaning.</a:t>
            </a:r>
            <a:endParaRPr lang="en-US" sz="3590" spc="107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75335" lvl="1" indent="-38735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590" spc="107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Fast insights &amp; controlled sharing: interactive Plotly visualizations</a:t>
            </a:r>
            <a:endParaRPr lang="en-US" sz="3590" spc="107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75335" lvl="1" indent="-387350" algn="l">
              <a:lnSpc>
                <a:spcPts val="5385"/>
              </a:lnSpc>
              <a:buFont typeface="Arial" panose="020B0604020202020204"/>
              <a:buChar char="•"/>
            </a:pPr>
            <a:r>
              <a:rPr lang="en-US" sz="3590" spc="107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auto-generated hypothesis bullets speed decision-making, with export </a:t>
            </a:r>
            <a:endParaRPr lang="en-US" sz="3590" spc="107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0" lvl="0" indent="0" algn="l">
              <a:lnSpc>
                <a:spcPts val="5385"/>
              </a:lnSpc>
              <a:spcBef>
                <a:spcPct val="0"/>
              </a:spcBef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1249181" y="1868643"/>
            <a:ext cx="16161333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25"/>
              </a:lnSpc>
              <a:spcBef>
                <a:spcPct val="0"/>
              </a:spcBef>
            </a:pPr>
            <a:r>
              <a:rPr lang="en-US" sz="7020" b="1" spc="70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LOGIC &amp; HOW IT WORKS</a:t>
            </a:r>
            <a:endParaRPr lang="en-US" sz="7020" b="1" spc="70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29796" y="720932"/>
            <a:ext cx="11689257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25"/>
              </a:lnSpc>
              <a:spcBef>
                <a:spcPct val="0"/>
              </a:spcBef>
            </a:pPr>
            <a:r>
              <a:rPr lang="en-US" sz="7020" b="1" spc="70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COMPARISON WITH POWER BI &amp; EXCEL</a:t>
            </a:r>
            <a:endParaRPr lang="en-US" sz="7020" b="1" spc="70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372427" y="4008003"/>
            <a:ext cx="18067973" cy="3348954"/>
            <a:chOff x="0" y="0"/>
            <a:chExt cx="24090631" cy="4465272"/>
          </a:xfrm>
        </p:grpSpPr>
        <p:sp>
          <p:nvSpPr>
            <p:cNvPr id="10" name="TextBox 10"/>
            <p:cNvSpPr txBox="1"/>
            <p:nvPr/>
          </p:nvSpPr>
          <p:spPr>
            <a:xfrm>
              <a:off x="1440675" y="-85725"/>
              <a:ext cx="4621965" cy="698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060" b="1" spc="91">
                  <a:solidFill>
                    <a:srgbClr val="3F3E3A"/>
                  </a:solidFill>
                  <a:latin typeface="Clear Sans Bold" panose="020B0803030202020304"/>
                  <a:ea typeface="Clear Sans Bold" panose="020B0803030202020304"/>
                  <a:cs typeface="Clear Sans Bold" panose="020B0803030202020304"/>
                  <a:sym typeface="Clear Sans Bold" panose="020B0803030202020304"/>
                </a:rPr>
                <a:t>Smart Dashboard</a:t>
              </a:r>
              <a:endParaRPr lang="en-US" sz="3060" b="1" spc="91">
                <a:solidFill>
                  <a:srgbClr val="3F3E3A"/>
                </a:solidFill>
                <a:latin typeface="Clear Sans Bold" panose="020B0803030202020304"/>
                <a:ea typeface="Clear Sans Bold" panose="020B0803030202020304"/>
                <a:cs typeface="Clear Sans Bold" panose="020B0803030202020304"/>
                <a:sym typeface="Clear Sans Bold" panose="020B08030302020203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263444"/>
              <a:ext cx="7774762" cy="2550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Multi-file support ✅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Real-time interactive charts ✅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Quick</a:t>
              </a: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 &amp; lightweight setup ✅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Minimal training required ✅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12606" y="-85725"/>
              <a:ext cx="2626587" cy="698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060" b="1" spc="91">
                  <a:solidFill>
                    <a:srgbClr val="3F3E3A"/>
                  </a:solidFill>
                  <a:latin typeface="Clear Sans Bold" panose="020B0803030202020304"/>
                  <a:ea typeface="Clear Sans Bold" panose="020B0803030202020304"/>
                  <a:cs typeface="Clear Sans Bold" panose="020B0803030202020304"/>
                  <a:sym typeface="Clear Sans Bold" panose="020B0803030202020304"/>
                </a:rPr>
                <a:t>Power BI</a:t>
              </a:r>
              <a:endParaRPr lang="en-US" sz="3060" b="1" spc="91">
                <a:solidFill>
                  <a:srgbClr val="3F3E3A"/>
                </a:solidFill>
                <a:latin typeface="Clear Sans Bold" panose="020B0803030202020304"/>
                <a:ea typeface="Clear Sans Bold" panose="020B0803030202020304"/>
                <a:cs typeface="Clear Sans Bold" panose="020B0803030202020304"/>
                <a:sym typeface="Clear Sans Bold" panose="020B08030302020203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706410" y="-85725"/>
              <a:ext cx="1421314" cy="6989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90"/>
                </a:lnSpc>
                <a:spcBef>
                  <a:spcPct val="0"/>
                </a:spcBef>
              </a:pPr>
              <a:r>
                <a:rPr lang="en-US" sz="3060" b="1" spc="91">
                  <a:solidFill>
                    <a:srgbClr val="3F3E3A"/>
                  </a:solidFill>
                  <a:latin typeface="Clear Sans Bold" panose="020B0803030202020304"/>
                  <a:ea typeface="Clear Sans Bold" panose="020B0803030202020304"/>
                  <a:cs typeface="Clear Sans Bold" panose="020B0803030202020304"/>
                  <a:sym typeface="Clear Sans Bold" panose="020B0803030202020304"/>
                </a:rPr>
                <a:t>Excel</a:t>
              </a:r>
              <a:endParaRPr lang="en-US" sz="3060" b="1" spc="91">
                <a:solidFill>
                  <a:srgbClr val="3F3E3A"/>
                </a:solidFill>
                <a:latin typeface="Clear Sans Bold" panose="020B0803030202020304"/>
                <a:ea typeface="Clear Sans Bold" panose="020B0803030202020304"/>
                <a:cs typeface="Clear Sans Bold" panose="020B0803030202020304"/>
                <a:sym typeface="Clear Sans Bold" panose="020B0803030202020304"/>
              </a:endParaRP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7851778" y="306603"/>
              <a:ext cx="22947" cy="4158557"/>
            </a:xfrm>
            <a:prstGeom prst="line">
              <a:avLst/>
            </a:prstGeom>
            <a:ln w="40717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34429" y="1263444"/>
              <a:ext cx="7582940" cy="2550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Real-time interactive charts ✅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Multi-file support ❌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He</a:t>
              </a: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avy setup and installation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Training needed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507690" y="1263444"/>
              <a:ext cx="7582940" cy="2550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Multi-file support limited ⚠️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Charts are no</a:t>
              </a: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 interactive ❌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He</a:t>
              </a: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avy setup, mostly manual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61975" lvl="1" indent="-280670" algn="l">
                <a:lnSpc>
                  <a:spcPts val="3900"/>
                </a:lnSpc>
                <a:buFont typeface="Arial" panose="020B0604020202020204"/>
                <a:buChar char="•"/>
              </a:pPr>
              <a:r>
                <a:rPr lang="en-US" sz="2600" spc="78">
                  <a:solidFill>
                    <a:srgbClr val="3F3E3A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Minimal automation</a:t>
              </a:r>
              <a:endParaRPr lang="en-US" sz="2600" spc="78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15935064" y="127"/>
              <a:ext cx="22947" cy="4158557"/>
            </a:xfrm>
            <a:prstGeom prst="line">
              <a:avLst/>
            </a:prstGeom>
            <a:ln w="40717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2536" y="2610936"/>
            <a:ext cx="1778292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25"/>
              </a:lnSpc>
              <a:spcBef>
                <a:spcPct val="0"/>
              </a:spcBef>
            </a:pPr>
            <a:r>
              <a:rPr lang="en-US" sz="7020" b="1" spc="70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ALTERNATIVE APPROACHES</a:t>
            </a:r>
            <a:endParaRPr lang="en-US" sz="7020" b="1" spc="70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76101" y="4125044"/>
            <a:ext cx="11440101" cy="343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9305" lvl="1" indent="-394335" algn="l">
              <a:lnSpc>
                <a:spcPts val="5480"/>
              </a:lnSpc>
              <a:buFont typeface="Arial" panose="020B0604020202020204"/>
              <a:buChar char="•"/>
            </a:pPr>
            <a:r>
              <a:rPr lang="en-US" sz="3655" spc="109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Limitation : Heavy , Setup-Time.</a:t>
            </a:r>
            <a:endParaRPr lang="en-US" sz="3655" spc="109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89305" lvl="1" indent="-394335" algn="l">
              <a:lnSpc>
                <a:spcPts val="5480"/>
              </a:lnSpc>
              <a:buFont typeface="Arial" panose="020B0604020202020204"/>
              <a:buChar char="•"/>
            </a:pPr>
            <a:r>
              <a:rPr lang="en-US" sz="3655" spc="109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Power BI : Requires Training.</a:t>
            </a:r>
            <a:endParaRPr lang="en-US" sz="3655" spc="109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89305" lvl="1" indent="-394335" algn="l">
              <a:lnSpc>
                <a:spcPts val="5480"/>
              </a:lnSpc>
              <a:buFont typeface="Arial" panose="020B0604020202020204"/>
              <a:buChar char="•"/>
            </a:pPr>
            <a:r>
              <a:rPr lang="en-US" sz="3655" spc="109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Must have a good command using PowerBI and Tableau.</a:t>
            </a:r>
            <a:endParaRPr lang="en-US" sz="3655" spc="109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789305" lvl="1" indent="-394335" algn="l">
              <a:lnSpc>
                <a:spcPts val="5480"/>
              </a:lnSpc>
              <a:buFont typeface="Arial" panose="020B0604020202020204"/>
              <a:buChar char="•"/>
            </a:pPr>
            <a:r>
              <a:rPr lang="en-US" sz="3655" spc="109">
                <a:solidFill>
                  <a:srgbClr val="3F3E3A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In Excle requires to learn formulas </a:t>
            </a:r>
            <a:endParaRPr lang="en-US" sz="3655" spc="109">
              <a:solidFill>
                <a:srgbClr val="3F3E3A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99372" y="3885647"/>
            <a:ext cx="11689257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50"/>
              </a:lnSpc>
              <a:spcBef>
                <a:spcPct val="0"/>
              </a:spcBef>
            </a:pPr>
            <a:r>
              <a:rPr lang="en-US" sz="10455" b="1" spc="104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PROJECT DEMO</a:t>
            </a:r>
            <a:endParaRPr lang="en-US" sz="10455" b="1" spc="104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77829" y="4460805"/>
            <a:ext cx="12332342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0" lvl="1" indent="-474980" algn="l">
              <a:lnSpc>
                <a:spcPts val="5280"/>
              </a:lnSpc>
              <a:buFont typeface="Arial" panose="020B0604020202020204"/>
              <a:buChar char="•"/>
            </a:pPr>
            <a:r>
              <a:rPr lang="en-US" sz="4400" spc="43">
                <a:solidFill>
                  <a:srgbClr val="000000"/>
                </a:solidFill>
                <a:latin typeface="Sansation" panose="02000000000000000000"/>
                <a:ea typeface="Sansation" panose="02000000000000000000"/>
                <a:cs typeface="Sansation" panose="02000000000000000000"/>
                <a:sym typeface="Sansation" panose="02000000000000000000"/>
              </a:rPr>
              <a:t>Unified platform for multiple data sources</a:t>
            </a:r>
            <a:endParaRPr lang="en-US" sz="4400" spc="43">
              <a:solidFill>
                <a:srgbClr val="000000"/>
              </a:solidFill>
              <a:latin typeface="Sansation" panose="02000000000000000000"/>
              <a:ea typeface="Sansation" panose="02000000000000000000"/>
              <a:cs typeface="Sansation" panose="02000000000000000000"/>
              <a:sym typeface="Sansation" panose="02000000000000000000"/>
            </a:endParaRPr>
          </a:p>
          <a:p>
            <a:pPr marL="949960" lvl="1" indent="-474980" algn="l">
              <a:lnSpc>
                <a:spcPts val="5280"/>
              </a:lnSpc>
              <a:buFont typeface="Arial" panose="020B0604020202020204"/>
              <a:buChar char="•"/>
            </a:pPr>
            <a:r>
              <a:rPr lang="en-US" sz="4400" spc="43">
                <a:solidFill>
                  <a:srgbClr val="000000"/>
                </a:solidFill>
                <a:latin typeface="Sansation" panose="02000000000000000000"/>
                <a:ea typeface="Sansation" panose="02000000000000000000"/>
                <a:cs typeface="Sansation" panose="02000000000000000000"/>
                <a:sym typeface="Sansation" panose="02000000000000000000"/>
              </a:rPr>
              <a:t>Real-time, interactive, and flexible</a:t>
            </a:r>
            <a:endParaRPr lang="en-US" sz="4400" spc="43">
              <a:solidFill>
                <a:srgbClr val="000000"/>
              </a:solidFill>
              <a:latin typeface="Sansation" panose="02000000000000000000"/>
              <a:ea typeface="Sansation" panose="02000000000000000000"/>
              <a:cs typeface="Sansation" panose="02000000000000000000"/>
              <a:sym typeface="Sansation" panose="02000000000000000000"/>
            </a:endParaRPr>
          </a:p>
          <a:p>
            <a:pPr marL="949960" lvl="1" indent="-474980" algn="l">
              <a:lnSpc>
                <a:spcPts val="5280"/>
              </a:lnSpc>
              <a:buFont typeface="Arial" panose="020B0604020202020204"/>
              <a:buChar char="•"/>
            </a:pPr>
            <a:r>
              <a:rPr lang="en-US" sz="4400" spc="43">
                <a:solidFill>
                  <a:srgbClr val="000000"/>
                </a:solidFill>
                <a:latin typeface="Sansation" panose="02000000000000000000"/>
                <a:ea typeface="Sansation" panose="02000000000000000000"/>
                <a:cs typeface="Sansation" panose="02000000000000000000"/>
                <a:sym typeface="Sansation" panose="02000000000000000000"/>
              </a:rPr>
              <a:t>Lightweight, easy to deploy, superior to traditional tools</a:t>
            </a:r>
            <a:endParaRPr lang="en-US" sz="4400" spc="43">
              <a:solidFill>
                <a:srgbClr val="000000"/>
              </a:solidFill>
              <a:latin typeface="Sansation" panose="02000000000000000000"/>
              <a:ea typeface="Sansation" panose="02000000000000000000"/>
              <a:cs typeface="Sansation" panose="02000000000000000000"/>
              <a:sym typeface="Sansation" panose="020000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34432" y="1000037"/>
            <a:ext cx="1206024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45"/>
              </a:lnSpc>
              <a:spcBef>
                <a:spcPct val="0"/>
              </a:spcBef>
            </a:pPr>
            <a:r>
              <a:rPr lang="en-US" sz="7620" b="1" spc="228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CONCLUSION </a:t>
            </a:r>
            <a:endParaRPr lang="en-US" sz="7620" b="1" spc="228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99372" y="5221503"/>
            <a:ext cx="11689257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0"/>
              </a:lnSpc>
              <a:spcBef>
                <a:spcPct val="0"/>
              </a:spcBef>
            </a:pPr>
            <a:r>
              <a:rPr lang="en-US" sz="11055" b="1" spc="110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YOU</a:t>
            </a:r>
            <a:endParaRPr lang="en-US" sz="11055" b="1" spc="110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661662" y="3370047"/>
            <a:ext cx="8964676" cy="203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975"/>
              </a:lnSpc>
              <a:spcBef>
                <a:spcPct val="0"/>
              </a:spcBef>
            </a:pPr>
            <a:r>
              <a:rPr lang="en-US" sz="13315" b="1" spc="399">
                <a:solidFill>
                  <a:srgbClr val="000000"/>
                </a:solidFill>
                <a:latin typeface="Sansation Bold" panose="02000000000000000000"/>
                <a:ea typeface="Sansation Bold" panose="02000000000000000000"/>
                <a:cs typeface="Sansation Bold" panose="02000000000000000000"/>
                <a:sym typeface="Sansation Bold" panose="02000000000000000000"/>
              </a:rPr>
              <a:t>THANK</a:t>
            </a:r>
            <a:endParaRPr lang="en-US" sz="13315" b="1" spc="399">
              <a:solidFill>
                <a:srgbClr val="000000"/>
              </a:solidFill>
              <a:latin typeface="Sansation Bold" panose="02000000000000000000"/>
              <a:ea typeface="Sansation Bold" panose="02000000000000000000"/>
              <a:cs typeface="Sansation Bold" panose="02000000000000000000"/>
              <a:sym typeface="Sansation Bold" panose="020000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2323</Words>
  <Application>WPS Presentation</Application>
  <PresentationFormat>On-screen Show (4:3)</PresentationFormat>
  <Paragraphs>110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Clear Sans</vt:lpstr>
      <vt:lpstr>Sansation Bold</vt:lpstr>
      <vt:lpstr>Arial</vt:lpstr>
      <vt:lpstr>Clear Sans Bold</vt:lpstr>
      <vt:lpstr>Sansation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Abstract Minimalist Project Presentation</dc:title>
  <dc:creator/>
  <cp:lastModifiedBy>Samina Ujjainwala</cp:lastModifiedBy>
  <cp:revision>2</cp:revision>
  <dcterms:created xsi:type="dcterms:W3CDTF">2006-08-16T00:00:00Z</dcterms:created>
  <dcterms:modified xsi:type="dcterms:W3CDTF">2025-10-09T16:34:28Z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FC674E732A6C484BB8D743B87228691A_12</vt:lpwstr>
  </property>
  <property fmtid="{D5CDD505-2E9C-101B-9397-08002B2CF9AE}" pid="3" name="KSOProductBuildVer">
    <vt:lpwstr>1033-12.2.0.22549</vt:lpwstr>
  </property>
</Properties>
</file>